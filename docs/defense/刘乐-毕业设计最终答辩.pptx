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latin typeface="Microsoft YaHei"/>
              </a:defRPr>
            </a:pPr>
            <a:r>
              <a:t>基于容器编排的微服务弹性伸缩策略研究与实践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latin typeface="Microsoft YaHei"/>
              </a:defRPr>
            </a:pPr>
            <a:r>
              <a:t>毕业设计最终答辩 | 刘乐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研究背景与问题</a:t>
            </a:r>
          </a:p>
          <a:p>
            <a:pPr>
              <a:defRPr sz="1800">
                <a:latin typeface="Microsoft YaHei"/>
              </a:defRPr>
            </a:pPr>
            <a:r>
              <a:t>系统设计与关键实现</a:t>
            </a:r>
          </a:p>
          <a:p>
            <a:pPr>
              <a:defRPr sz="1800">
                <a:latin typeface="Microsoft YaHei"/>
              </a:defRPr>
            </a:pPr>
            <a:r>
              <a:t>实验方案与数据采集</a:t>
            </a:r>
          </a:p>
          <a:p>
            <a:pPr>
              <a:defRPr sz="1800">
                <a:latin typeface="Microsoft YaHei"/>
              </a:defRPr>
            </a:pPr>
            <a:r>
              <a:t>结果分析与结论</a:t>
            </a:r>
          </a:p>
          <a:p>
            <a:pPr>
              <a:defRPr sz="1800">
                <a:latin typeface="Microsoft YaHei"/>
              </a:defRPr>
            </a:pPr>
            <a:r>
              <a:t>创新点、局限与展望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微服务实例数量动态变化，人工扩缩容响应慢</a:t>
            </a:r>
          </a:p>
          <a:p>
            <a:pPr>
              <a:defRPr sz="1800">
                <a:latin typeface="Microsoft YaHei"/>
              </a:defRPr>
            </a:pPr>
            <a:r>
              <a:t>静态资源配置容易在高峰不足、低峰浪费</a:t>
            </a:r>
          </a:p>
          <a:p>
            <a:pPr>
              <a:defRPr sz="1800">
                <a:latin typeface="Microsoft YaHei"/>
              </a:defRPr>
            </a:pPr>
            <a:r>
              <a:t>Kubernetes HPA/VPA 为弹性治理提供基础能力</a:t>
            </a:r>
          </a:p>
          <a:p>
            <a:pPr>
              <a:defRPr sz="1800">
                <a:latin typeface="Microsoft YaHei"/>
              </a:defRPr>
            </a:pPr>
            <a:r>
              <a:t>需要用可复现实验验证不同策略的效果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研究目标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搭建 Minikube + Kubernetes 实验平台</a:t>
            </a:r>
          </a:p>
          <a:p>
            <a:pPr>
              <a:defRPr sz="1800">
                <a:latin typeface="Microsoft YaHei"/>
              </a:defRPr>
            </a:pPr>
            <a:r>
              <a:t>实现 CPU HPA、多指标 HPA、HPA+VPA 对照策略</a:t>
            </a:r>
          </a:p>
          <a:p>
            <a:pPr>
              <a:defRPr sz="1800">
                <a:latin typeface="Microsoft YaHei"/>
              </a:defRPr>
            </a:pPr>
            <a:r>
              <a:t>打通 Prometheus 自定义指标链路</a:t>
            </a:r>
          </a:p>
          <a:p>
            <a:pPr>
              <a:defRPr sz="1800">
                <a:latin typeface="Microsoft YaHei"/>
              </a:defRPr>
            </a:pPr>
            <a:r>
              <a:t>形成正式实验数据、图表和可复现说明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sample-api 暴露业务接口和 /metrics</a:t>
            </a:r>
          </a:p>
          <a:p>
            <a:pPr>
              <a:defRPr sz="1800">
                <a:latin typeface="Microsoft YaHei"/>
              </a:defRPr>
            </a:pPr>
            <a:r>
              <a:t>Prometheus 采集 http_requests_total</a:t>
            </a:r>
          </a:p>
          <a:p>
            <a:pPr>
              <a:defRPr sz="1800">
                <a:latin typeface="Microsoft YaHei"/>
              </a:defRPr>
            </a:pPr>
            <a:r>
              <a:t>Prometheus Adapter 注册 custom.metrics.k8s.io</a:t>
            </a:r>
          </a:p>
          <a:p>
            <a:pPr>
              <a:defRPr sz="1800">
                <a:latin typeface="Microsoft YaHei"/>
              </a:defRPr>
            </a:pPr>
            <a:r>
              <a:t>HPA 根据 CPU/内存/QPS 调整副本</a:t>
            </a:r>
          </a:p>
          <a:p>
            <a:pPr>
              <a:defRPr sz="1800">
                <a:latin typeface="Microsoft YaHei"/>
              </a:defRPr>
            </a:pPr>
            <a:r>
              <a:t>VPA Initial 提供资源请求推荐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四组实验策略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static：固定 2 副本</a:t>
            </a:r>
          </a:p>
          <a:p>
            <a:pPr>
              <a:defRPr sz="1800">
                <a:latin typeface="Microsoft YaHei"/>
              </a:defRPr>
            </a:pPr>
            <a:r>
              <a:t>hpa_cpu：CPU 利用率目标 60%</a:t>
            </a:r>
          </a:p>
          <a:p>
            <a:pPr>
              <a:defRPr sz="1800">
                <a:latin typeface="Microsoft YaHei"/>
              </a:defRPr>
            </a:pPr>
            <a:r>
              <a:t>hpa_multi：CPU + Memory + QPS</a:t>
            </a:r>
          </a:p>
          <a:p>
            <a:pPr>
              <a:defRPr sz="1800">
                <a:latin typeface="Microsoft YaHei"/>
              </a:defRPr>
            </a:pPr>
            <a:r>
              <a:t>hpa_vpa：多指标 HPA + VPA Initial 推荐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场景：burst</a:t>
            </a:r>
          </a:p>
          <a:p>
            <a:pPr>
              <a:defRPr sz="1800">
                <a:latin typeface="Microsoft YaHei"/>
              </a:defRPr>
            </a:pPr>
            <a:r>
              <a:t>重复：4 组策略 x 3 次</a:t>
            </a:r>
          </a:p>
          <a:p>
            <a:pPr>
              <a:defRPr sz="1800">
                <a:latin typeface="Microsoft YaHei"/>
              </a:defRPr>
            </a:pPr>
            <a:r>
              <a:t>负载：80 users，spawn_rate=10，run_time=5m</a:t>
            </a:r>
          </a:p>
          <a:p>
            <a:pPr>
              <a:defRPr sz="1800">
                <a:latin typeface="Microsoft YaHei"/>
              </a:defRPr>
            </a:pPr>
            <a:r>
              <a:t>采集：Locust、HPA/VPA、events、kubectl top、manifest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正式实验数据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静态副本：P95=1933ms，QPS=89.77，失败率=11.28%</a:t>
            </a:r>
          </a:p>
          <a:p>
            <a:pPr>
              <a:defRPr sz="1800">
                <a:latin typeface="Microsoft YaHei"/>
              </a:defRPr>
            </a:pPr>
            <a:r>
              <a:t>CPU HPA：P95=1733ms，QPS=99.07，失败率=4.99%</a:t>
            </a:r>
          </a:p>
          <a:p>
            <a:pPr>
              <a:defRPr sz="1800">
                <a:latin typeface="Microsoft YaHei"/>
              </a:defRPr>
            </a:pPr>
            <a:r>
              <a:t>多指标 HPA：P95=1700ms，QPS=99.09，失败率=8.15%</a:t>
            </a:r>
          </a:p>
          <a:p>
            <a:pPr>
              <a:defRPr sz="1800">
                <a:latin typeface="Microsoft YaHei"/>
              </a:defRPr>
            </a:pPr>
            <a:r>
              <a:t>HPA+VPA：P95=1500ms，QPS=113.26，失败率=0.02%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P95 时延对比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HPA 策略降低固定副本下的长尾排队风险</a:t>
            </a:r>
          </a:p>
          <a:p>
            <a:pPr>
              <a:defRPr sz="1800">
                <a:latin typeface="Microsoft YaHei"/>
              </a:defRPr>
            </a:pPr>
            <a:r>
              <a:t>HPA+VPA 组平均 P95 最低</a:t>
            </a:r>
          </a:p>
          <a:p>
            <a:pPr>
              <a:defRPr sz="1800">
                <a:latin typeface="Microsoft YaHei"/>
              </a:defRPr>
            </a:pPr>
            <a:r>
              <a:t>部分运行受本地单节点资源波动影响</a:t>
            </a:r>
          </a:p>
        </p:txBody>
      </p:sp>
      <p:pic>
        <p:nvPicPr>
          <p:cNvPr id="4" name="Picture 3" descr="p95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吞吐量对比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HPA+VPA 组吞吐均值最高</a:t>
            </a:r>
          </a:p>
          <a:p>
            <a:pPr>
              <a:defRPr sz="1800">
                <a:latin typeface="Microsoft YaHei"/>
              </a:defRPr>
            </a:pPr>
            <a:r>
              <a:t>多指标 HPA 可通过 QPS 指标触发扩容</a:t>
            </a:r>
          </a:p>
          <a:p>
            <a:pPr>
              <a:defRPr sz="1800">
                <a:latin typeface="Microsoft YaHei"/>
              </a:defRPr>
            </a:pPr>
            <a:r>
              <a:t>静态副本在突发负载下吞吐波动更明显</a:t>
            </a:r>
          </a:p>
        </p:txBody>
      </p:sp>
      <p:pic>
        <p:nvPicPr>
          <p:cNvPr id="4" name="Picture 3" descr="throughput_q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失败率对比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静态副本组出现高失败率运行</a:t>
            </a:r>
          </a:p>
          <a:p>
            <a:pPr>
              <a:defRPr sz="1800">
                <a:latin typeface="Microsoft YaHei"/>
              </a:defRPr>
            </a:pPr>
            <a:r>
              <a:t>HPA+VPA 组失败率最低且更稳定</a:t>
            </a:r>
          </a:p>
          <a:p>
            <a:pPr>
              <a:defRPr sz="1800">
                <a:latin typeface="Microsoft YaHei"/>
              </a:defRPr>
            </a:pPr>
            <a:r>
              <a:t>弹性扩容能缓解高并发下请求堆积</a:t>
            </a:r>
          </a:p>
        </p:txBody>
      </p:sp>
      <p:pic>
        <p:nvPicPr>
          <p:cNvPr id="4" name="Picture 3" descr="failur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资源利用率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资源统计仅计算 sample-api Pod</a:t>
            </a:r>
          </a:p>
          <a:p>
            <a:pPr>
              <a:defRPr sz="1800">
                <a:latin typeface="Microsoft YaHei"/>
              </a:defRPr>
            </a:pPr>
            <a:r>
              <a:t>静态组单 Pod 压力较高</a:t>
            </a:r>
          </a:p>
          <a:p>
            <a:pPr>
              <a:defRPr sz="1800">
                <a:latin typeface="Microsoft YaHei"/>
              </a:defRPr>
            </a:pPr>
            <a:r>
              <a:t>弹性组通过扩容分散负载压力</a:t>
            </a:r>
          </a:p>
        </p:txBody>
      </p:sp>
      <p:pic>
        <p:nvPicPr>
          <p:cNvPr id="4" name="Picture 3" descr="cpu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伸缩行为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HPA 成功读取 CPU/内存/QPS 指标</a:t>
            </a:r>
          </a:p>
          <a:p>
            <a:pPr>
              <a:defRPr sz="1800">
                <a:latin typeface="Microsoft YaHei"/>
              </a:defRPr>
            </a:pPr>
            <a:r>
              <a:t>custom metrics API 返回 http_requests_per_second</a:t>
            </a:r>
          </a:p>
          <a:p>
            <a:pPr>
              <a:defRPr sz="1800">
                <a:latin typeface="Microsoft YaHei"/>
              </a:defRPr>
            </a:pPr>
            <a:r>
              <a:t>VPA 输出 RecommendationProvided=True</a:t>
            </a:r>
          </a:p>
        </p:txBody>
      </p:sp>
      <p:pic>
        <p:nvPicPr>
          <p:cNvPr id="4" name="Picture 3" descr="scale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成本代理指标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成本代理基于 CPU/内存使用量估算</a:t>
            </a:r>
          </a:p>
          <a:p>
            <a:pPr>
              <a:defRPr sz="1800">
                <a:latin typeface="Microsoft YaHei"/>
              </a:defRPr>
            </a:pPr>
            <a:r>
              <a:t>仅用于同一实验环境横向比较</a:t>
            </a:r>
          </a:p>
          <a:p>
            <a:pPr>
              <a:defRPr sz="1800">
                <a:latin typeface="Microsoft YaHei"/>
              </a:defRPr>
            </a:pPr>
            <a:r>
              <a:t>弹性策略在性能与资源间取得更好平衡</a:t>
            </a:r>
          </a:p>
        </p:txBody>
      </p:sp>
      <p:pic>
        <p:nvPicPr>
          <p:cNvPr id="4" name="Picture 3" descr="cost_per_1k_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关键成果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完成可复现实验流水线</a:t>
            </a:r>
          </a:p>
          <a:p>
            <a:pPr>
              <a:defRPr sz="1800">
                <a:latin typeface="Microsoft YaHei"/>
              </a:defRPr>
            </a:pPr>
            <a:r>
              <a:t>完成真实 Prometheus Adapter 自定义指标链路</a:t>
            </a:r>
          </a:p>
          <a:p>
            <a:pPr>
              <a:defRPr sz="1800">
                <a:latin typeface="Microsoft YaHei"/>
              </a:defRPr>
            </a:pPr>
            <a:r>
              <a:t>完成真实 VPA CRD/Recommender/Updater 验证</a:t>
            </a:r>
          </a:p>
          <a:p>
            <a:pPr>
              <a:defRPr sz="1800">
                <a:latin typeface="Microsoft YaHei"/>
              </a:defRPr>
            </a:pPr>
            <a:r>
              <a:t>形成 12 条正式实验记录和 9 张图表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以业务 QPS 补充 CPU/内存资源指标</a:t>
            </a:r>
          </a:p>
          <a:p>
            <a:pPr>
              <a:defRPr sz="1800">
                <a:latin typeface="Microsoft YaHei"/>
              </a:defRPr>
            </a:pPr>
            <a:r>
              <a:t>将 HPA 水平伸缩与 VPA 资源推荐纳入同一实验框架</a:t>
            </a:r>
          </a:p>
          <a:p>
            <a:pPr>
              <a:defRPr sz="1800">
                <a:latin typeface="Microsoft YaHei"/>
              </a:defRPr>
            </a:pPr>
            <a:r>
              <a:t>自动归档 manifest、原始 CSV、事件和图表，增强可追溯性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局限与展望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本实验基于单节点 Minikube，关注趋势复现</a:t>
            </a:r>
          </a:p>
          <a:p>
            <a:pPr>
              <a:defRPr sz="1800">
                <a:latin typeface="Microsoft YaHei"/>
              </a:defRPr>
            </a:pPr>
            <a:r>
              <a:t>VPA 使用 Initial 模式，未启用高风险自动重建</a:t>
            </a:r>
          </a:p>
          <a:p>
            <a:pPr>
              <a:defRPr sz="1800">
                <a:latin typeface="Microsoft YaHei"/>
              </a:defRPr>
            </a:pPr>
            <a:r>
              <a:t>后续可扩展多节点集群、预测模型和更细成本模型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Microsoft YaHei"/>
              </a:defRPr>
            </a:pPr>
            <a:r>
              <a:t>完成从部署、监控、压测到分析的闭环</a:t>
            </a:r>
          </a:p>
          <a:p>
            <a:pPr>
              <a:defRPr sz="1800">
                <a:latin typeface="Microsoft YaHei"/>
              </a:defRPr>
            </a:pPr>
            <a:r>
              <a:t>多指标 HPA 和 HPA+VPA 更适合突发负载场景</a:t>
            </a:r>
          </a:p>
          <a:p>
            <a:pPr>
              <a:defRPr sz="1800">
                <a:latin typeface="Microsoft YaHei"/>
              </a:defRPr>
            </a:pPr>
            <a:r>
              <a:t>成果可作为微服务弹性伸缩配置与实验复现参考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468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latin typeface="Microsoft YaHei"/>
              </a:defRPr>
            </a:pPr>
            <a:r>
              <a:t>谢谢各位老师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